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Tempo de Execução (s)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(s)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175.21</c:v>
                </c:pt>
                <c:pt idx="1">
                  <c:v>63.22</c:v>
                </c:pt>
                <c:pt idx="2">
                  <c:v>38.18</c:v>
                </c:pt>
                <c:pt idx="3">
                  <c:v>29.39</c:v>
                </c:pt>
                <c:pt idx="4">
                  <c:v>27.11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Speedup Real vs. Ideal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Speedup Real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2.77</c:v>
                </c:pt>
                <c:pt idx="2">
                  <c:v>4.59</c:v>
                </c:pt>
                <c:pt idx="3">
                  <c:v>5.96</c:v>
                </c:pt>
                <c:pt idx="4">
                  <c:v>6.46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Ideal (Linear)</c:v>
                </c:pt>
              </c:strCache>
            </c:strRef>
          </c:tx>
          <c:spPr>
            <a:solidFill>
              <a:srgbClr val="CBD5E1"/>
            </a:solidFill>
            <a:ln w="38100" cap="flat">
              <a:solidFill>
                <a:srgbClr val="CBD5E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4</c:v>
                  </c:pt>
                  <c:pt idx="3">
                    <c:v>8</c:v>
                  </c:pt>
                  <c:pt idx="4">
                    <c:v>12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1 (Capa) | Tempo: ~30s
Arthur abre: 'Boa tarde a todos. Nosso trabalho investiga quanto a programação concorrente acelera o processamento de milhões de registros criminais de São Paulo. Vou apresentar o problema, e o Victor vai trazer os resultados e a análise.'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2 (Problema) | Tempo: ~1min
Arthur: 'Trabalhamos com 22 arquivos CSV do sistema R.D.O. da SSP-SP. O desafio tem duas camadas: primeiro, o dado bruto vem duplicado — um mesmo boletim aparece várias vezes quando há múltiplas vítimas. Segundo, processar milhões de linhas sequencialmente é lento. Nosso objetivo foi extrair o Top 5 de crimes por região com total precisão e medir o ganho real da concorrência.'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3 (Arquitetura) | Tempo: ~1min
Arthur: 'A restrição do professor foi clara: Python Puro, sem pandas, sem banco de dados. Isso foi intencional — com pandas o motor interno roda em C e mascara o ganho da concorrência. Na versão serial usamos um loop simples. Na concorrente, o ProcessPoolExecutor distribui os arquivos entre processos reais, contornando o GIL do Python. Cada processo retorna sua lista de registros limpos, e o processo mestre faz o merge final.'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4 (Resultados) | Tempo: ~1min30s
Victor: 'Aqui estão os dados coletados no meu PC, que tem SSD e 12 núcleos. A versão serial levou 175 segundos. Com 2 núcleos já caímos para 63 segundos — quase três vezes mais rápido. Com 4 núcleos, 38 segundos. O ganho vai diminuindo conforme adicionamos mais núcleos, exatamente como a Lei de Amdahl prevê. Com 12 núcleos chegamos a 27 segundos — uma redução de 84% em relação ao serial.'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5 (Amdahl) | Tempo: ~1min30s
Victor: 'A Lei de Amdahl diz que o speedup é limitado pela parte do código que não pode ser paralelizada. No nosso caso, calculamos que cerca de 92% do processamento é paralelizável — o gargalo serial restante é o merge e deduplicação global, que roda em processo único. Por isso o speedup desacelera: de 2,77× com 2 núcleos para 6,46× com 12 — longe do ideal linear de 12×, mas ainda assim uma redução de 84% no tempo total.'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6 (Resultado Criminal) | Tempo: ~1min
Victor: 'Além do benchmark, o sistema gerou o resultado criminal real. Em 17 seccionais analisadas, o padrão é consistente: Furto e Roubo dominam o Top 2 em todas as regiões. O maior volume está no 1º Centro, com 462 mil registros únicos de furto em 7 anos. Dois casos especiais validam o algoritmo: DECAP-Sede com apenas 2 ocorrências e DEMACRO-Sede com 1 — sedes administrativas que não realizam atendimento de rua.'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— SLIDE 7 (Conclusão) | Tempo: ~45s
Arthur fecha: 'Pra resumir: a concorrência em Python exige processos reais, não threads, por causa do GIL. Com isso conseguimos reduzir 175 segundos para 27 — uma melhora de 84%. Mas a Lei de Amdahl bate: a etapa serial de merge global impediu escalar além de 6,46×. O projeto validou na prática o que a teoria prevê. Ficamos à disposição para perguntas.'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112233"/>
          </a:solidFill>
          <a:ln w="12700">
            <a:solidFill>
              <a:srgbClr val="112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11480"/>
            <a:ext cx="2926080" cy="384048"/>
          </a:xfrm>
          <a:prstGeom prst="roundRect">
            <a:avLst>
              <a:gd name="adj" fmla="val 19048"/>
            </a:avLst>
          </a:prstGeom>
          <a:solidFill>
            <a:srgbClr val="0A9AA3"/>
          </a:solidFill>
          <a:ln w="12700">
            <a:solidFill>
              <a:srgbClr val="0A9AA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PROGRAMAÇÃO CONCORRENTE — ADS · UNIEURO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Inteligência Criminal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C2CB"/>
                </a:solidFill>
              </a:rPr>
              <a:t>em Larga Escala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8F4F8"/>
                </a:solidFill>
              </a:rPr>
              <a:t>Serial vs. Concorrente — Benchmarking com Python Puro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127248"/>
            <a:ext cx="411480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Arthur Dias  ·  Victor Hugo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Junho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 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</a:rPr>
              <a:t>02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2103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Volume de Dados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25880" y="2606040"/>
            <a:ext cx="685800" cy="274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27432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22 arquivos CSV · 2010–2017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Milhões de linhas · São Paulo Capital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00400" y="2103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Duplicidade Estrutural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06240" y="2606040"/>
            <a:ext cx="685800" cy="274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7432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 sistema R.D.O. duplica linhas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por múltiplas vítimas no mesmo B.O.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080760" y="137160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80760" y="21031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Objetivo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86600" y="2606040"/>
            <a:ext cx="685800" cy="27432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0488" y="2743200"/>
            <a:ext cx="2468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Top 5 crimes por seccional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com deduplicação exata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Arquitetura da Solução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</a:rPr>
              <a:t>03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393192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</a:rPr>
              <a:t>🔁  Serial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1 núcleo de CPU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Arquivos processados um a um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Loop simples com csv.DictReader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Deduplicação em hashset local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92040" y="1097280"/>
            <a:ext cx="3931920" cy="3611880"/>
          </a:xfrm>
          <a:prstGeom prst="roundRect">
            <a:avLst>
              <a:gd name="adj" fmla="val 303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2344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CB"/>
                </a:solidFill>
              </a:rPr>
              <a:t>⚡  Concorrente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8288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ProcessPoolExecutor (N núcleos)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Arquivos distribuídos em paralelo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Contorna o GIL com processos reais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F4F8"/>
                </a:solidFill>
              </a:rPr>
              <a:t>Merge global no processo mestre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9AA3"/>
                </a:solidFill>
              </a:rPr>
              <a:t>VS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20040" y="4800600"/>
            <a:ext cx="8503920" cy="256032"/>
          </a:xfrm>
          <a:prstGeom prst="roundRect">
            <a:avLst>
              <a:gd name="adj" fmla="val 17857"/>
            </a:avLst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8006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5E00"/>
                </a:solidFill>
              </a:rPr>
              <a:t>⚠  Restrição acadêmica: proibido pandas e frameworks externos — Python Puro com biblioteca padrão apenas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Resultados Empíricos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</a:rPr>
              <a:t>04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97280"/>
          <a:ext cx="4114800" cy="356616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Núcleos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Tempo 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Speedup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Eficiência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 (Serial)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175,21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1,00×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100,0%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63,22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2,77×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138,6%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38,18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4,59×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114,7%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8 ★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29,39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5,96×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</a:rPr>
                        <a:t>74,5%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27,11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6,46×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53,9%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4663440" y="1051560"/>
          <a:ext cx="41605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Lei de Amdahl na Prática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</a:rPr>
              <a:t>05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097280"/>
          <a:ext cx="530352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97880" y="1143000"/>
            <a:ext cx="29260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97880" y="121615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9AA3"/>
                </a:solidFill>
              </a:rPr>
              <a:t>~92%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897880" y="1673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código paralelizável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97880" y="19110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estimado pela Lei de Amdahl inversa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97880" y="2404872"/>
            <a:ext cx="29260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897880" y="247802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9AA3"/>
                </a:solidFill>
              </a:rPr>
              <a:t>6,46×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897880" y="2935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speedup máximo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97880" y="31729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com 12 núcleos (SSD)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897880" y="3666744"/>
            <a:ext cx="29260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>
            <a:solidFill>
              <a:srgbClr val="D1E8E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897880" y="373989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9AA3"/>
                </a:solidFill>
              </a:rPr>
              <a:t>84%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5897880" y="41970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redução no tempo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897880" y="443484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175s → 27s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Resultado Criminal — Top 5 por Seccional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731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00C2CB"/>
                </a:solidFill>
              </a:rPr>
              <a:t>06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1704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DEL.SEC.1º CENTRO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4813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Furto (art. 155)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75564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462.534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maior volume absoluto da capital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60520" cy="1417320"/>
          </a:xfrm>
          <a:prstGeom prst="roundRect">
            <a:avLst>
              <a:gd name="adj" fmla="val 774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704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CB"/>
                </a:solidFill>
              </a:rPr>
              <a:t>DEL.SEC.3º OESTE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4813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Furto (art. 155)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75564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401.760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segundo maior volume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697480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3A5F"/>
                </a:solidFill>
              </a:rPr>
              <a:t>📊  Em todas as 17 seccionais, Furto (art. 155) e Roubo (art. 157) dominam o Top 2 — assinatura típica de grandes metrópoles onde o crime patrimonial opera em escala massiva.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37560"/>
          <a:ext cx="8503920" cy="1600200"/>
        </p:xfrm>
        <a:graphic>
          <a:graphicData uri="http://schemas.openxmlformats.org/drawingml/2006/table">
            <a:tbl>
              <a:tblPr/>
              <a:tblGrid>
                <a:gridCol w="2834640"/>
                <a:gridCol w="2834640"/>
                <a:gridCol w="2834640"/>
              </a:tblGrid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Seccional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1º Crime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2º Crime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1º CENTRO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Furto 462k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Roubo 185k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2º SUL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Roubo 223k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Furto 215k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3º OESTE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Furto 401k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Roubo 279k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6º S.AMARO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Roubo 279k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Furto 230k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7º ITAQUERA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Roubo 215k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Furto 170k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1371600"/>
            <a:ext cx="4114800" cy="4114800"/>
          </a:xfrm>
          <a:prstGeom prst="ellipse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Conclusão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657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47472" cy="347472"/>
          </a:xfrm>
          <a:prstGeom prst="ellipse">
            <a:avLst/>
          </a:prstGeom>
          <a:solidFill>
            <a:srgbClr val="0A9AA3"/>
          </a:solidFill>
          <a:ln w="12700">
            <a:solidFill>
              <a:srgbClr val="0A9A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4416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Python Puro processa milhões de linhas, mas ganha 6,46× com paralelismo real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47472" cy="347472"/>
          </a:xfrm>
          <a:prstGeom prst="ellipse">
            <a:avLst/>
          </a:prstGeom>
          <a:solidFill>
            <a:srgbClr val="0A9AA3"/>
          </a:solidFill>
          <a:ln w="12700">
            <a:solidFill>
              <a:srgbClr val="0A9A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O GIL exige processos (não threads) para CPU-bound tasks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347472" cy="347472"/>
          </a:xfrm>
          <a:prstGeom prst="ellipse">
            <a:avLst/>
          </a:prstGeom>
          <a:solidFill>
            <a:srgbClr val="0A9AA3"/>
          </a:solidFill>
          <a:ln w="12700">
            <a:solidFill>
              <a:srgbClr val="0A9A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08152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SSD elimina o gargalo de I/O — hardware importa tanto quanto o código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347472" cy="347472"/>
          </a:xfrm>
          <a:prstGeom prst="ellipse">
            <a:avLst/>
          </a:prstGeom>
          <a:solidFill>
            <a:srgbClr val="0A9AA3"/>
          </a:solidFill>
          <a:ln w="12700">
            <a:solidFill>
              <a:srgbClr val="0A9A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95020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8"/>
                </a:solidFill>
              </a:rPr>
              <a:t>A Lei de Amdahl se confirma: ~8% serial limita o speedup máximo teórico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17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CB"/>
                </a:solidFill>
              </a:rPr>
              <a:t>Obrigado!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Criminal em Larga Escala</dc:title>
  <dc:subject>PptxGenJS Presentation</dc:subject>
  <dc:creator>PptxGenJS</dc:creator>
  <cp:lastModifiedBy>PptxGenJS</cp:lastModifiedBy>
  <cp:revision>1</cp:revision>
  <dcterms:created xsi:type="dcterms:W3CDTF">2026-06-17T00:58:45Z</dcterms:created>
  <dcterms:modified xsi:type="dcterms:W3CDTF">2026-06-17T00:58:45Z</dcterms:modified>
</cp:coreProperties>
</file>